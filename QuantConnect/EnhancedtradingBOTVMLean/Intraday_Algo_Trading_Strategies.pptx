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73152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0F1F5C"/>
                </a:solidFill>
              </a:rPr>
              <a:t>ALGO</a:t>
            </a:r>
            <a:endParaRPr lang="en-US" sz="12000" dirty="0"/>
          </a:p>
        </p:txBody>
      </p:sp>
      <p:sp>
        <p:nvSpPr>
          <p:cNvPr id="5" name="Shape 3"/>
          <p:cNvSpPr/>
          <p:nvPr/>
        </p:nvSpPr>
        <p:spPr>
          <a:xfrm>
            <a:off x="365760" y="2926080"/>
            <a:ext cx="5029200" cy="36576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Live Market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Strategies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Execution Frameworks for Live Markets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41148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A3A8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FF"/>
                </a:solidFill>
              </a:rPr>
              <a:t>Quantitative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41148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A3A8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FF"/>
                </a:solidFill>
              </a:rPr>
              <a:t>Low-Latency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41148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A3A8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FF"/>
                </a:solidFill>
              </a:rPr>
              <a:t>Signal-Driven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4114800"/>
            <a:ext cx="1828800" cy="320040"/>
          </a:xfrm>
          <a:prstGeom prst="roundRect">
            <a:avLst>
              <a:gd name="adj" fmla="val 42857"/>
            </a:avLst>
          </a:prstGeom>
          <a:solidFill>
            <a:srgbClr val="1A3A8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FF"/>
                </a:solidFill>
              </a:rPr>
              <a:t>Systematic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Intraday Algo Trading?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algorithmic trading uses computer programs to automatically open and close positions within a single trading session — capturing short-term inefficiencies with speed and precision no human trader can match.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1965960" cy="265176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783080"/>
            <a:ext cx="1965960" cy="4572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FF"/>
                </a:solidFill>
              </a:rPr>
              <a:t>Speed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" y="2834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Microsecond execution via co-location &amp; direct market access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23160" y="1783080"/>
            <a:ext cx="1965960" cy="265176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23160" y="1783080"/>
            <a:ext cx="196596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920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2316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A0"/>
                </a:solidFill>
              </a:rPr>
              <a:t>Rules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514600" y="2834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Deterministic logic replaces emotional decision-making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0" y="1783080"/>
            <a:ext cx="1965960" cy="265176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1783080"/>
            <a:ext cx="196596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9202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842"/>
                </a:solidFill>
              </a:rPr>
              <a:t>Scale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63440" y="2834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Trade 100s of instruments simultaneously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720840" y="1783080"/>
            <a:ext cx="1965960" cy="265176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20840" y="1783080"/>
            <a:ext cx="196596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19202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20840" y="2423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Risk Ctrl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812280" y="28346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Pre-set drawdown limits, position sizing, kill-switches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C0"/>
                </a:solidFill>
              </a:rPr>
              <a:t>All strategies described in this deck can be backtested and deployed in live markets via Python-based frameworks (e.g. QuantLib, Backtrader, Zipline, or proprietary engines).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3291840" cy="5097780"/>
          </a:xfrm>
          <a:prstGeom prst="rect">
            <a:avLst/>
          </a:prstGeom>
          <a:solidFill>
            <a:srgbClr val="132050"/>
          </a:solidFill>
          <a:ln w="12700">
            <a:solidFill>
              <a:srgbClr val="13205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86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182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37160" y="1920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37160" y="3063240"/>
            <a:ext cx="219456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E5A0"/>
                </a:solidFill>
              </a:rPr>
              <a:t>Bid-Ask Spread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00E5A0"/>
                </a:solidFill>
              </a:rPr>
              <a:t>Capture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66160" y="274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566160" y="731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Simultaneously post limit orders on both sides of the order book (bid &amp; ask). Profit from the spread while maintaining near-zero net directional exposure.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6160" y="1508760"/>
            <a:ext cx="2560320" cy="1280160"/>
          </a:xfrm>
          <a:prstGeom prst="rect">
            <a:avLst/>
          </a:prstGeom>
          <a:solidFill>
            <a:srgbClr val="0D295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508760"/>
            <a:ext cx="54864" cy="12801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03320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Signal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0332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Order book imbalance, quote depth, and fill rate signals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09360" y="1508760"/>
            <a:ext cx="2560320" cy="1280160"/>
          </a:xfrm>
          <a:prstGeom prst="rect">
            <a:avLst/>
          </a:prstGeom>
          <a:solidFill>
            <a:srgbClr val="0D295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9360" y="1508760"/>
            <a:ext cx="54864" cy="12801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Execution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4652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Sub-millisecond quote updates via co-location or FPGAs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566160" y="2971800"/>
            <a:ext cx="2560320" cy="1280160"/>
          </a:xfrm>
          <a:prstGeom prst="rect">
            <a:avLst/>
          </a:prstGeom>
          <a:solidFill>
            <a:srgbClr val="0D295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566160" y="2971800"/>
            <a:ext cx="54864" cy="12801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03320" y="3081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Risk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70332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Inventory accumulation risk; hedge with futures or options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09360" y="2971800"/>
            <a:ext cx="2560320" cy="1280160"/>
          </a:xfrm>
          <a:prstGeom prst="rect">
            <a:avLst/>
          </a:prstGeom>
          <a:solidFill>
            <a:srgbClr val="0D295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309360" y="2971800"/>
            <a:ext cx="54864" cy="12801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3081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Edge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4652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Statistical edge repeated 1,000s of times per day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566160" y="4526280"/>
            <a:ext cx="5303520" cy="502920"/>
          </a:xfrm>
          <a:prstGeom prst="rect">
            <a:avLst/>
          </a:prstGeom>
          <a:solidFill>
            <a:srgbClr val="0D2957"/>
          </a:solidFill>
          <a:ln w="12700">
            <a:solidFill>
              <a:srgbClr val="0D295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66160" y="4526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</a:rPr>
              <a:t>⚡  Best suited for: Equities, Crypto, FX Spot  |  Typical holding: &lt; 1 second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Momentum &amp; Trend Following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5C"/>
                </a:solidFill>
              </a:rPr>
              <a:t>Identify and ride short-term price momentum using technical indicators. The core premise: assets in motion tend to remain in motion — at least for a few minutes to a few hours.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4320" y="1783080"/>
            <a:ext cx="2743200" cy="30175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783080"/>
            <a:ext cx="274320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</a:rPr>
              <a:t>Key Indicators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11480" y="2468880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EMA crossover (e.g. 9/21)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2926080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RSI momentum (&gt;60 / &lt;40)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3383280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MACD histogram slope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3840480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Volume surge filter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4297680"/>
            <a:ext cx="109728" cy="109728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ATR for position sizing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0" y="1783080"/>
            <a:ext cx="2743200" cy="30175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1783080"/>
            <a:ext cx="2743200" cy="4572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756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FF"/>
                </a:solidFill>
              </a:rPr>
              <a:t>Entry Logic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337560" y="2468880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2044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Price breaks above VWAP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37560" y="2926080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2044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EMA crossover confirmed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37560" y="3383280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2044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Volume ≥ 1.5× 20-bar avg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337560" y="3840480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2044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Momentum Z-score &gt; 2σ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37560" y="4297680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2044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Aligned with market regime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126480" y="1783080"/>
            <a:ext cx="2743200" cy="30175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26480" y="1783080"/>
            <a:ext cx="27432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6364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</a:rPr>
              <a:t>Exit Logic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263640" y="246888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4652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Trailing stop (1–2× ATR)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63640" y="292608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4652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Opposite EMA crossover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263640" y="338328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4652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End-of-session flat rule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263640" y="384048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46520" y="3749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Max holding time breached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263640" y="429768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4652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Risk:Reward target hit (2:1)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274320" y="4892040"/>
            <a:ext cx="8595360" cy="14630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74320" y="489204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437"/>
                </a:solidFill>
              </a:rPr>
              <a:t>Best suited for: Futures, ETFs, Crypto  |  Typical holding: 5 min – 2 hours  |  Common framework: Zipline, Backtrader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868680"/>
          </a:xfrm>
          <a:prstGeom prst="rect">
            <a:avLst/>
          </a:prstGeom>
          <a:solidFill>
            <a:srgbClr val="132050"/>
          </a:solidFill>
          <a:ln w="12700">
            <a:solidFill>
              <a:srgbClr val="13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Mean Reversion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</a:rPr>
              <a:t>Prices deviate from a statistical mean and tend to revert. This strategy exploits short-term overshoots and undershoots in price relative to a reference level.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1783080"/>
            <a:ext cx="1920240" cy="1463040"/>
          </a:xfrm>
          <a:prstGeom prst="rect">
            <a:avLst/>
          </a:prstGeom>
          <a:solidFill>
            <a:srgbClr val="0D295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783080"/>
            <a:ext cx="192024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18745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Reference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</a:rPr>
              <a:t>VWAP / Bollinger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</a:rPr>
              <a:t>Band / z-score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0" y="2487168"/>
            <a:ext cx="2286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1783080"/>
            <a:ext cx="1920240" cy="1463040"/>
          </a:xfrm>
          <a:prstGeom prst="rect">
            <a:avLst/>
          </a:prstGeom>
          <a:solidFill>
            <a:srgbClr val="0D295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14600" y="1783080"/>
            <a:ext cx="192024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6120" y="18745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461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51460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Deviation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51460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</a:rPr>
              <a:t>Price &gt; 2σ above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</a:rPr>
              <a:t>or below mean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34840" y="2487168"/>
            <a:ext cx="2286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1783080"/>
            <a:ext cx="1920240" cy="1463040"/>
          </a:xfrm>
          <a:prstGeom prst="rect">
            <a:avLst/>
          </a:prstGeom>
          <a:solidFill>
            <a:srgbClr val="0D295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1783080"/>
            <a:ext cx="192024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94960" y="18745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94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66344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Trade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66344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</a:rPr>
              <a:t>Fade the move;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</a:rPr>
              <a:t>short overbought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583680" y="2487168"/>
            <a:ext cx="2286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12280" y="1783080"/>
            <a:ext cx="1920240" cy="1463040"/>
          </a:xfrm>
          <a:prstGeom prst="rect">
            <a:avLst/>
          </a:prstGeom>
          <a:solidFill>
            <a:srgbClr val="0D2957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812280" y="1783080"/>
            <a:ext cx="192024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43800" y="18745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43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81228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Exit 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Mean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1228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</a:rPr>
              <a:t>TP at mean;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C0"/>
                </a:solidFill>
              </a:rPr>
              <a:t>SL beyond band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6576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Implementation Variants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65760" y="3840480"/>
            <a:ext cx="2743200" cy="1097280"/>
          </a:xfrm>
          <a:prstGeom prst="rect">
            <a:avLst/>
          </a:prstGeom>
          <a:solidFill>
            <a:srgbClr val="0D2957"/>
          </a:solidFill>
          <a:ln/>
        </p:spPr>
      </p:sp>
      <p:sp>
        <p:nvSpPr>
          <p:cNvPr id="36" name="Shape 33"/>
          <p:cNvSpPr/>
          <p:nvPr/>
        </p:nvSpPr>
        <p:spPr>
          <a:xfrm>
            <a:off x="365760" y="3840480"/>
            <a:ext cx="54864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Pairs Trading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0292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Two co-integrated stocks; trade spread z-score. Close when spread mean-reverts.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291840" y="3840480"/>
            <a:ext cx="2743200" cy="1097280"/>
          </a:xfrm>
          <a:prstGeom prst="rect">
            <a:avLst/>
          </a:prstGeom>
          <a:solidFill>
            <a:srgbClr val="0D2957"/>
          </a:solidFill>
          <a:ln/>
        </p:spPr>
      </p:sp>
      <p:sp>
        <p:nvSpPr>
          <p:cNvPr id="40" name="Shape 37"/>
          <p:cNvSpPr/>
          <p:nvPr/>
        </p:nvSpPr>
        <p:spPr>
          <a:xfrm>
            <a:off x="3291840" y="3840480"/>
            <a:ext cx="54864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2900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Bollinger Band Fade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42900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Short at upper band, long at lower band; target mid-line as exit.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217920" y="3840480"/>
            <a:ext cx="2743200" cy="1097280"/>
          </a:xfrm>
          <a:prstGeom prst="rect">
            <a:avLst/>
          </a:prstGeom>
          <a:solidFill>
            <a:srgbClr val="0D2957"/>
          </a:solidFill>
          <a:ln/>
        </p:spPr>
      </p:sp>
      <p:sp>
        <p:nvSpPr>
          <p:cNvPr id="44" name="Shape 41"/>
          <p:cNvSpPr/>
          <p:nvPr/>
        </p:nvSpPr>
        <p:spPr>
          <a:xfrm>
            <a:off x="6217920" y="3840480"/>
            <a:ext cx="54864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5508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Opening Gap Fade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35508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Stocks gap up/down on open; fade the gap expecting first-hour reversion.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Statistical Arbitrage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5C"/>
                </a:solidFill>
              </a:rPr>
              <a:t>Exploit pricing inefficiencies between related instruments using quantitative models. Positions are market-neutral — profit comes from relative mispricing, not market direction.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4FF"/>
                </a:solidFill>
              </a:rPr>
              <a:t>Core Approaches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2194560"/>
            <a:ext cx="4114800" cy="5943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2194560"/>
            <a:ext cx="54864" cy="59436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FF"/>
                </a:solidFill>
              </a:rPr>
              <a:t>ETF Arbitrage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Trade ETF vs. basket of underlying when NAV diverges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880360"/>
            <a:ext cx="4114800" cy="5943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" y="2880360"/>
            <a:ext cx="54864" cy="59436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FF"/>
                </a:solidFill>
              </a:rPr>
              <a:t>Index Rebalancing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Front-run predictable index constituent changes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3566160"/>
            <a:ext cx="4114800" cy="5943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17" name="Shape 14"/>
          <p:cNvSpPr/>
          <p:nvPr/>
        </p:nvSpPr>
        <p:spPr>
          <a:xfrm>
            <a:off x="365760" y="3566160"/>
            <a:ext cx="54864" cy="59436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FF"/>
                </a:solidFill>
              </a:rPr>
              <a:t>Cross-Exchange Arb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Same asset trades at different prices on two venues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65760" y="4251960"/>
            <a:ext cx="4114800" cy="594360"/>
          </a:xfrm>
          <a:prstGeom prst="rect">
            <a:avLst/>
          </a:prstGeom>
          <a:solidFill>
            <a:srgbClr val="0B1437"/>
          </a:solidFill>
          <a:ln/>
        </p:spPr>
      </p:sp>
      <p:sp>
        <p:nvSpPr>
          <p:cNvPr id="21" name="Shape 18"/>
          <p:cNvSpPr/>
          <p:nvPr/>
        </p:nvSpPr>
        <p:spPr>
          <a:xfrm>
            <a:off x="365760" y="4251960"/>
            <a:ext cx="54864" cy="59436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FF"/>
                </a:solidFill>
              </a:rPr>
              <a:t>Triangular Arb (FX)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" y="4526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Exploit mispricing in 3-currency conversion loop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5488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</a:rPr>
              <a:t>Requirements &amp; Risks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754880" y="2194560"/>
            <a:ext cx="4114800" cy="594360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754880" y="2194560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5C"/>
                </a:solidFill>
              </a:rPr>
              <a:t>⚡  Latency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8920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Sub-millisecond execution critical; gaps vanish in &lt; 1ms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54880" y="2880360"/>
            <a:ext cx="4114800" cy="594360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754880" y="2880360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5C"/>
                </a:solidFill>
              </a:rPr>
              <a:t>📡  Co-location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920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Servers co-located at exchange for minimal round-trip time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754880" y="3566160"/>
            <a:ext cx="4114800" cy="594360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34" name="Shape 31"/>
          <p:cNvSpPr/>
          <p:nvPr/>
        </p:nvSpPr>
        <p:spPr>
          <a:xfrm>
            <a:off x="4754880" y="3566160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9204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5C"/>
                </a:solidFill>
              </a:rPr>
              <a:t>💸  Capital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89204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High notional needed; spreads often &lt; 0.01%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754880" y="4251960"/>
            <a:ext cx="4114800" cy="594360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38" name="Shape 35"/>
          <p:cNvSpPr/>
          <p:nvPr/>
        </p:nvSpPr>
        <p:spPr>
          <a:xfrm>
            <a:off x="4754880" y="4251960"/>
            <a:ext cx="54864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9204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A5C"/>
                </a:solidFill>
              </a:rPr>
              <a:t>⚠️  Model Risk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892040" y="4526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Correlations break down in stress events; monitor live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FF"/>
                </a:solidFill>
              </a:rPr>
              <a:t>Best suited for: Equities, ETFs, FX, Futures  |  Typical holding: Milliseconds – minutes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868680"/>
          </a:xfrm>
          <a:prstGeom prst="rect">
            <a:avLst/>
          </a:prstGeom>
          <a:solidFill>
            <a:srgbClr val="132050"/>
          </a:solidFill>
          <a:ln w="12700">
            <a:solidFill>
              <a:srgbClr val="13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News &amp; Sentiment-Based Trading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</a:rPr>
              <a:t>Use NLP and large language models (LLMs) to parse news headlines, earnings calls, and social media in real-time. Convert unstructured text into tradeable signals within milliseconds of publication.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</a:rPr>
              <a:t>Signal Pipeline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2176272"/>
            <a:ext cx="1554480" cy="1463040"/>
          </a:xfrm>
          <a:prstGeom prst="rect">
            <a:avLst/>
          </a:prstGeom>
          <a:solidFill>
            <a:srgbClr val="0D2957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2176272"/>
            <a:ext cx="15544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267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Ingest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2651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News APIs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Twitter / Reddit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Earnings calls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28800" y="2834640"/>
            <a:ext cx="1828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1680" y="2176272"/>
            <a:ext cx="1554480" cy="1463040"/>
          </a:xfrm>
          <a:prstGeom prst="rect">
            <a:avLst/>
          </a:prstGeom>
          <a:solidFill>
            <a:srgbClr val="0D2957"/>
          </a:solidFill>
          <a:ln/>
        </p:spPr>
      </p:sp>
      <p:sp>
        <p:nvSpPr>
          <p:cNvPr id="14" name="Shape 11"/>
          <p:cNvSpPr/>
          <p:nvPr/>
        </p:nvSpPr>
        <p:spPr>
          <a:xfrm>
            <a:off x="2011680" y="2176272"/>
            <a:ext cx="15544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0" y="2267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NLP Parse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011680" y="2651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FinBERT / GPT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sentiment scoring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entity extraction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66160" y="2834640"/>
            <a:ext cx="1828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49040" y="2176272"/>
            <a:ext cx="1554480" cy="1463040"/>
          </a:xfrm>
          <a:prstGeom prst="rect">
            <a:avLst/>
          </a:prstGeom>
          <a:solidFill>
            <a:srgbClr val="0D2957"/>
          </a:solidFill>
          <a:ln/>
        </p:spPr>
      </p:sp>
      <p:sp>
        <p:nvSpPr>
          <p:cNvPr id="19" name="Shape 16"/>
          <p:cNvSpPr/>
          <p:nvPr/>
        </p:nvSpPr>
        <p:spPr>
          <a:xfrm>
            <a:off x="3749040" y="2176272"/>
            <a:ext cx="15544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49040" y="2267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Signal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749040" y="2651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Bullish / Bearish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confidence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+ magnitude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03520" y="2834640"/>
            <a:ext cx="1828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0" y="2176272"/>
            <a:ext cx="1554480" cy="1463040"/>
          </a:xfrm>
          <a:prstGeom prst="rect">
            <a:avLst/>
          </a:prstGeom>
          <a:solidFill>
            <a:srgbClr val="0D2957"/>
          </a:solidFill>
          <a:ln/>
        </p:spPr>
      </p:sp>
      <p:sp>
        <p:nvSpPr>
          <p:cNvPr id="24" name="Shape 21"/>
          <p:cNvSpPr/>
          <p:nvPr/>
        </p:nvSpPr>
        <p:spPr>
          <a:xfrm>
            <a:off x="5486400" y="2176272"/>
            <a:ext cx="15544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0" y="2267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Filter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0" y="2651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Ticker match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relevance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duplicate filter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040880" y="2834640"/>
            <a:ext cx="18288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23760" y="2176272"/>
            <a:ext cx="1554480" cy="1463040"/>
          </a:xfrm>
          <a:prstGeom prst="rect">
            <a:avLst/>
          </a:prstGeom>
          <a:solidFill>
            <a:srgbClr val="0D2957"/>
          </a:solidFill>
          <a:ln/>
        </p:spPr>
      </p:sp>
      <p:sp>
        <p:nvSpPr>
          <p:cNvPr id="29" name="Shape 26"/>
          <p:cNvSpPr/>
          <p:nvPr/>
        </p:nvSpPr>
        <p:spPr>
          <a:xfrm>
            <a:off x="7223760" y="2176272"/>
            <a:ext cx="155448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23760" y="22677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</a:rPr>
              <a:t>Execute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223760" y="26517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Market 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first 30 sec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size by score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6576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</a:rPr>
              <a:t>LLM / NLP Tools for Live Trading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274320" y="4233672"/>
            <a:ext cx="256032" cy="25603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1792" y="41879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FinBERT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901952" y="41879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Finance-tuned BERT for fast sentiment classification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709160" y="4233672"/>
            <a:ext cx="256032" cy="25603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56632" y="41879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GPT-4 / Claude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336792" y="41879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Deep context understanding; earnings call analysis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274320" y="4617720"/>
            <a:ext cx="256032" cy="25603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" y="4572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FinGPT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901952" y="4572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Open-source financial LLM; fine-tuned on SEC filings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709160" y="4617720"/>
            <a:ext cx="256032" cy="256032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56632" y="4572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</a:rPr>
              <a:t>Refinitiv / Bloomberg API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336792" y="4572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Structured news feeds with machine-readable tags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VWAP / TWAP Execution Strategies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5C"/>
                </a:solidFill>
              </a:rPr>
              <a:t>Benchmark-aware execution algorithms that slice large orders across time to minimize market impact. Essential for institutional-size positions in live intraday markets.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4320" y="1737360"/>
            <a:ext cx="4206240" cy="310896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737360"/>
            <a:ext cx="4206240" cy="5486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4FF"/>
                </a:solidFill>
              </a:rPr>
              <a:t>VWAP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C0"/>
                </a:solidFill>
              </a:rPr>
              <a:t>Volume-Weighted Average Price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Execute child orders proportional to historical volume profile throughout the day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FF"/>
                </a:solidFill>
              </a:rPr>
              <a:t>✓ Tracks real market liquidity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4FF"/>
                </a:solidFill>
              </a:rPr>
              <a:t>✓ Minimizes price impact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4FF"/>
                </a:solidFill>
              </a:rPr>
              <a:t>✓ Widely used benchmark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377440" y="3154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757"/>
                </a:solidFill>
              </a:rPr>
              <a:t>✗ Requires historical volume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4757"/>
                </a:solidFill>
              </a:rPr>
              <a:t>✗ Less effective for illiquid assets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3840480" cy="36576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C0"/>
                </a:solidFill>
              </a:rPr>
              <a:t>Use: Large equity block orders, index rebalancing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1737360"/>
            <a:ext cx="4206240" cy="310896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737360"/>
            <a:ext cx="420624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E5A0"/>
                </a:solidFill>
              </a:rPr>
              <a:t>TWAP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93776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C0"/>
                </a:solidFill>
              </a:rPr>
              <a:t>Time-Weighted Average Price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37760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Execute equal-sized child orders at fixed time intervals throughout the session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37760" y="3154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</a:rPr>
              <a:t>✓ Simple and predictable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</a:rPr>
              <a:t>✓ No volume data required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A0"/>
                </a:solidFill>
              </a:rPr>
              <a:t>✓ Easy to implement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0" y="31546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757"/>
                </a:solidFill>
              </a:rPr>
              <a:t>✗ Ignores volume patterns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4757"/>
                </a:solidFill>
              </a:rPr>
              <a:t>✗ More market impact during thin periods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937760" y="3931920"/>
            <a:ext cx="384048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4005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C0"/>
                </a:solidFill>
              </a:rPr>
              <a:t>Use: Crypto, less liquid assets, fixed-schedule execution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</a:rPr>
              <a:t>Advanced variants: Implementation Shortfall (IS), Adaptive VWAP, Percentage of Volume (POV)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868680"/>
          </a:xfrm>
          <a:prstGeom prst="rect">
            <a:avLst/>
          </a:prstGeom>
          <a:solidFill>
            <a:srgbClr val="132050"/>
          </a:solidFill>
          <a:ln w="12700">
            <a:solidFill>
              <a:srgbClr val="13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Opening Range Breakout (ORB)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</a:rPr>
              <a:t>One of the most widely used intraday strategies. Define a range using the first N minutes of trading (typically 5, 15, or 30 min). Trade the breakout direction with pre-defined risk parameters.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1874520"/>
            <a:ext cx="411480" cy="4114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1828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Define Range: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06040" y="18288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Record high and low of the first 15-30 minutes after market open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286000"/>
            <a:ext cx="54864" cy="128016"/>
          </a:xfrm>
          <a:prstGeom prst="rect">
            <a:avLst/>
          </a:prstGeom>
          <a:solidFill>
            <a:srgbClr val="8A9BC0"/>
          </a:solidFill>
          <a:ln w="12700">
            <a:solidFill>
              <a:srgbClr val="8A9BC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2441448"/>
            <a:ext cx="411480" cy="4114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23957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Watch for Break: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06040" y="23957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Wait for price to close a candle above the high or below the low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2852928"/>
            <a:ext cx="54864" cy="128016"/>
          </a:xfrm>
          <a:prstGeom prst="rect">
            <a:avLst/>
          </a:prstGeom>
          <a:solidFill>
            <a:srgbClr val="8A9BC0"/>
          </a:solidFill>
          <a:ln w="12700">
            <a:solidFill>
              <a:srgbClr val="8A9BC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3008376"/>
            <a:ext cx="411480" cy="4114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296265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Enter on Confirm: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606040" y="296265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Enter on pullback to the breakout level, or on immediate breakout candle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419856"/>
            <a:ext cx="54864" cy="128016"/>
          </a:xfrm>
          <a:prstGeom prst="rect">
            <a:avLst/>
          </a:prstGeom>
          <a:solidFill>
            <a:srgbClr val="8A9BC0"/>
          </a:solidFill>
          <a:ln w="12700">
            <a:solidFill>
              <a:srgbClr val="8A9BC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5760" y="3575304"/>
            <a:ext cx="411480" cy="4114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3575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14400" y="352958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Set Risk: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606040" y="352958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Stop loss = opposite end of range; Target = 1–2× range width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3986784"/>
            <a:ext cx="54864" cy="128016"/>
          </a:xfrm>
          <a:prstGeom prst="rect">
            <a:avLst/>
          </a:prstGeom>
          <a:solidFill>
            <a:srgbClr val="8A9BC0"/>
          </a:solidFill>
          <a:ln w="12700">
            <a:solidFill>
              <a:srgbClr val="8A9BC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4142232"/>
            <a:ext cx="411480" cy="4114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142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" y="40965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Manage Trade: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2606040" y="409651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Trail stop after 1R profit; flatten all positions by 30 min before close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5760" y="4617720"/>
            <a:ext cx="8412480" cy="438912"/>
          </a:xfrm>
          <a:prstGeom prst="rect">
            <a:avLst/>
          </a:prstGeom>
          <a:solidFill>
            <a:srgbClr val="0D2957"/>
          </a:solidFill>
          <a:ln/>
        </p:spPr>
      </p:sp>
      <p:sp>
        <p:nvSpPr>
          <p:cNvPr id="32" name="Shape 29"/>
          <p:cNvSpPr/>
          <p:nvPr/>
        </p:nvSpPr>
        <p:spPr>
          <a:xfrm>
            <a:off x="365760" y="4617720"/>
            <a:ext cx="54864" cy="4389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46177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💡  Pro Tips: Filter by pre-market gap &gt; 0.5% for higher win rates. Avoid ORB on FOMC / earnings days. Volume confirmation on breakout candle improves reliability.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5C"/>
          </a:solidFill>
          <a:ln w="12700">
            <a:solidFill>
              <a:srgbClr val="0F1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&amp; Execution Infrastructure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A5C"/>
                </a:solidFill>
              </a:rPr>
              <a:t>Every strategy is only as good as its risk controls. Robust infrastructure separates profitable algos from catastrophic ones.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43200" cy="14173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274320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57"/>
                </a:solidFill>
              </a:rPr>
              <a:t>Position Sizing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194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Kelly Criterion, fixed fractional, or volatility-scaled. Never risk &gt; 1–2% per trade.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691640"/>
            <a:ext cx="2743200" cy="14173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69164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Max Drawdown Kill-Switch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37560" y="2194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Halt all trading if daily loss exceeds threshold (e.g. 3% NAV). Hard-coded, not optional.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691640"/>
            <a:ext cx="2743200" cy="14173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691640"/>
            <a:ext cx="2743200" cy="5486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FF"/>
                </a:solidFill>
              </a:rPr>
              <a:t>Latency Monitoring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63640" y="21945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Track order round-trip time. Stale quotes &gt; 50ms: pause strategy. Alert on feed drops.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74320" y="3291840"/>
            <a:ext cx="2743200" cy="14173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3291840"/>
            <a:ext cx="27432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38328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296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</a:rPr>
              <a:t>Slippage &amp; Fill Rate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11480" y="3794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Monitor expected vs actual fill prices. High slippage signals market impact or bad parameters.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3291840"/>
            <a:ext cx="2743200" cy="14173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3291840"/>
            <a:ext cx="27432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83280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4904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</a:rPr>
              <a:t>Regime Detection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37560" y="3794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Classify market regime (trending vs. ranging, low vs. high volatility) to select active strategies.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126480" y="3291840"/>
            <a:ext cx="2743200" cy="1417320"/>
          </a:xfrm>
          <a:prstGeom prst="rect">
            <a:avLst/>
          </a:prstGeom>
          <a:solidFill>
            <a:srgbClr val="0B143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26480" y="3291840"/>
            <a:ext cx="2743200" cy="54864"/>
          </a:xfrm>
          <a:prstGeom prst="rect">
            <a:avLst/>
          </a:prstGeom>
          <a:solidFill>
            <a:srgbClr val="8A9BC0"/>
          </a:solidFill>
          <a:ln w="12700">
            <a:solidFill>
              <a:srgbClr val="8A9BC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383280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7512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BC0"/>
                </a:solidFill>
              </a:rPr>
              <a:t>Audit Logging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63640" y="37947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Log every order, fill, cancellation, and signal with timestamps. Critical for debugging and compliance.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"/>
            <a:ext cx="9144000" cy="868680"/>
          </a:xfrm>
          <a:prstGeom prst="rect">
            <a:avLst/>
          </a:prstGeom>
          <a:solidFill>
            <a:srgbClr val="132050"/>
          </a:solidFill>
          <a:ln w="12700">
            <a:solidFill>
              <a:srgbClr val="13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Comparison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8778240" cy="41148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4FF"/>
                </a:solidFill>
              </a:rPr>
              <a:t>Strategy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005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FF"/>
                </a:solidFill>
              </a:rPr>
              <a:t>Holding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FF"/>
                </a:solidFill>
              </a:rPr>
              <a:t>Complexity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FF"/>
                </a:solidFill>
              </a:rPr>
              <a:t>Capital Req.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FF"/>
                </a:solidFill>
              </a:rPr>
              <a:t>Best Asset Class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1463040"/>
            <a:ext cx="8778240" cy="475488"/>
          </a:xfrm>
          <a:prstGeom prst="rect">
            <a:avLst/>
          </a:prstGeom>
          <a:solidFill>
            <a:srgbClr val="0D2957"/>
          </a:solidFill>
          <a:ln w="12700">
            <a:solidFill>
              <a:srgbClr val="0D29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4630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Market Making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14630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&lt; 1 sec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1463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</a:rPr>
              <a:t>High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</a:rPr>
              <a:t>High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Equities, Crypto, FX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1938528"/>
            <a:ext cx="8778240" cy="475488"/>
          </a:xfrm>
          <a:prstGeom prst="rect">
            <a:avLst/>
          </a:prstGeom>
          <a:solidFill>
            <a:srgbClr val="0A1A45"/>
          </a:solidFill>
          <a:ln w="12700">
            <a:solidFill>
              <a:srgbClr val="0A1A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Momentum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193852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5 min – 2 hr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0" y="19385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842"/>
                </a:solidFill>
              </a:rPr>
              <a:t>Medium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193852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842"/>
                </a:solidFill>
              </a:rPr>
              <a:t>Medium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193852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Futures, ETFs, Crypto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82880" y="2414016"/>
            <a:ext cx="8778240" cy="475488"/>
          </a:xfrm>
          <a:prstGeom prst="rect">
            <a:avLst/>
          </a:prstGeom>
          <a:solidFill>
            <a:srgbClr val="0D2957"/>
          </a:solidFill>
          <a:ln w="12700">
            <a:solidFill>
              <a:srgbClr val="0D29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24140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Mean Reversion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94560" y="241401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1 min – 1 hr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0" y="24140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842"/>
                </a:solidFill>
              </a:rPr>
              <a:t>Medium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241401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842"/>
                </a:solidFill>
              </a:rPr>
              <a:t>Medium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241401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Equities, Pairs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2880" y="2889504"/>
            <a:ext cx="8778240" cy="475488"/>
          </a:xfrm>
          <a:prstGeom prst="rect">
            <a:avLst/>
          </a:prstGeom>
          <a:solidFill>
            <a:srgbClr val="0A1A45"/>
          </a:solidFill>
          <a:ln w="12700">
            <a:solidFill>
              <a:srgbClr val="0A1A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8895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Statistical Arb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94560" y="28895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ms – mins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0" y="28895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4757"/>
                </a:solidFill>
              </a:rPr>
              <a:t>Very High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288950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4757"/>
                </a:solidFill>
              </a:rPr>
              <a:t>Very High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28895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Equities, ETFs, FX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" y="3364992"/>
            <a:ext cx="8778240" cy="475488"/>
          </a:xfrm>
          <a:prstGeom prst="rect">
            <a:avLst/>
          </a:prstGeom>
          <a:solidFill>
            <a:srgbClr val="0D2957"/>
          </a:solidFill>
          <a:ln w="12700">
            <a:solidFill>
              <a:srgbClr val="0D29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3364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Sentiment / NLP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194560" y="33649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Secs – 1 hr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0" y="33649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</a:rPr>
              <a:t>High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37760" y="33649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842"/>
                </a:solidFill>
              </a:rPr>
              <a:t>Medium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17920" y="33649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All (news-driven)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82880" y="3840480"/>
            <a:ext cx="8778240" cy="475488"/>
          </a:xfrm>
          <a:prstGeom prst="rect">
            <a:avLst/>
          </a:prstGeom>
          <a:solidFill>
            <a:srgbClr val="0A1A45"/>
          </a:solidFill>
          <a:ln w="12700">
            <a:solidFill>
              <a:srgbClr val="0A1A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3840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VWAP / TWAP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194560" y="38404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Full session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0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5A0"/>
                </a:solidFill>
              </a:rPr>
              <a:t>Low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37760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</a:rPr>
              <a:t>High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17920" y="38404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Equities, Institutional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82880" y="4315968"/>
            <a:ext cx="8778240" cy="475488"/>
          </a:xfrm>
          <a:prstGeom prst="rect">
            <a:avLst/>
          </a:prstGeom>
          <a:solidFill>
            <a:srgbClr val="0D2957"/>
          </a:solidFill>
          <a:ln w="12700">
            <a:solidFill>
              <a:srgbClr val="0D29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31596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Opening Range ORB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194560" y="43159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1 – 4 hrs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657600" y="43159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5A0"/>
                </a:solidFill>
              </a:rPr>
              <a:t>Low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937760" y="43159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E5A0"/>
                </a:solidFill>
              </a:rPr>
              <a:t>Low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217920" y="43159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Equities, Futures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BC0"/>
                </a:solidFill>
              </a:rPr>
              <a:t>Complexity and capital requirements are relative to each other; actual requirements depend on instrument, venue, and position size.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45720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0F1F5C"/>
                </a:solidFill>
              </a:rPr>
              <a:t>TRADE</a:t>
            </a:r>
            <a:endParaRPr lang="en-US" sz="8000" dirty="0"/>
          </a:p>
          <a:p>
            <a:pPr algn="r" indent="0" marL="0">
              <a:buNone/>
            </a:pPr>
            <a:r>
              <a:rPr lang="en-US" sz="8000" b="1" dirty="0">
                <a:solidFill>
                  <a:srgbClr val="0F1F5C"/>
                </a:solidFill>
              </a:rPr>
              <a:t>SMART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" cy="274320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097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No single strategy works in all market conditions — deploy a portfolio of strategies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74320" cy="274320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Latency and execution quality matter as much as signal generation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274320" cy="274320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Risk management is non-negotiable — define your daily loss limit before you trade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274320" cy="274320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17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Backtest rigorously, but be wary of overfitting; walk-forward test on live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274320" cy="274320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57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Sentiment/LLM-based signals are a growing edge in modern intraday algo trading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5029200" cy="54864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434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C0"/>
                </a:solidFill>
              </a:rPr>
              <a:t>"In algo trading, the edge is tiny — but consistency, speed, and discipline compound it into outperformance."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Intraday Algo Trading Strategies</dc:title>
  <dc:subject>PptxGenJS Presentation</dc:subject>
  <dc:creator>PptxGenJS</dc:creator>
  <cp:lastModifiedBy>PptxGenJS</cp:lastModifiedBy>
  <cp:revision>1</cp:revision>
  <dcterms:created xsi:type="dcterms:W3CDTF">2026-04-30T08:35:30Z</dcterms:created>
  <dcterms:modified xsi:type="dcterms:W3CDTF">2026-04-30T08:35:30Z</dcterms:modified>
</cp:coreProperties>
</file>